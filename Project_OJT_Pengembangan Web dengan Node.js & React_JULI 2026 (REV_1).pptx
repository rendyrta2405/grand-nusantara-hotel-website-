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sldIdLst>
    <p:sldId id="265" r:id="rId2"/>
    <p:sldId id="256" r:id="rId3"/>
    <p:sldId id="257" r:id="rId4"/>
    <p:sldId id="268" r:id="rId5"/>
    <p:sldId id="270" r:id="rId6"/>
    <p:sldId id="271" r:id="rId7"/>
    <p:sldId id="261" r:id="rId8"/>
    <p:sldId id="263" r:id="rId9"/>
    <p:sldId id="264" r:id="rId10"/>
    <p:sldId id="272" r:id="rId11"/>
    <p:sldId id="273" r:id="rId12"/>
    <p:sldId id="274" r:id="rId13"/>
    <p:sldId id="275" r:id="rId14"/>
    <p:sldId id="267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35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9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8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48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8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5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2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1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03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5638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27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979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05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34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7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799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B86840-B19A-45E0-8E0C-F290CB35D62B}"/>
              </a:ext>
            </a:extLst>
          </p:cNvPr>
          <p:cNvSpPr txBox="1"/>
          <p:nvPr/>
        </p:nvSpPr>
        <p:spPr>
          <a:xfrm>
            <a:off x="1516742" y="538817"/>
            <a:ext cx="6255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SELAMAT DATANG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A6D2C-BC10-4721-96E2-3217E114B273}"/>
              </a:ext>
            </a:extLst>
          </p:cNvPr>
          <p:cNvSpPr txBox="1"/>
          <p:nvPr/>
        </p:nvSpPr>
        <p:spPr>
          <a:xfrm>
            <a:off x="402601" y="2157511"/>
            <a:ext cx="817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PESERTA PROGRAM ON THE JOB TRAINING (OJT)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83AA8-387A-4AD9-B2BD-BE4BEB5CDD8F}"/>
              </a:ext>
            </a:extLst>
          </p:cNvPr>
          <p:cNvSpPr txBox="1"/>
          <p:nvPr/>
        </p:nvSpPr>
        <p:spPr>
          <a:xfrm>
            <a:off x="2815808" y="2859286"/>
            <a:ext cx="2742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BBPVP – BEKASI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A40E0-80EC-4DFD-AD26-EF330EF9BE11}"/>
              </a:ext>
            </a:extLst>
          </p:cNvPr>
          <p:cNvSpPr txBox="1"/>
          <p:nvPr/>
        </p:nvSpPr>
        <p:spPr>
          <a:xfrm>
            <a:off x="2715119" y="3710240"/>
            <a:ext cx="30738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JAKARTA, 21 JULI 2026 </a:t>
            </a:r>
            <a:endParaRPr lang="en-ID" sz="2000" b="1"/>
          </a:p>
          <a:p>
            <a:endParaRPr lang="en-ID" sz="2000"/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86E0AF55-7922-4B92-B490-DD40D3B9071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7697" y="5085415"/>
            <a:ext cx="2830286" cy="1231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B7BAF6-D06D-4133-B0E8-F066850FB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66" y="5085415"/>
            <a:ext cx="2859059" cy="123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9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353" y="888851"/>
            <a:ext cx="8595361" cy="5331656"/>
          </a:xfrm>
        </p:spPr>
        <p:txBody>
          <a:bodyPr/>
          <a:lstStyle/>
          <a:p>
            <a:pPr algn="ctr"/>
            <a:r>
              <a:rPr lang="en-ID" b="1">
                <a:solidFill>
                  <a:schemeClr val="tx1"/>
                </a:solidFill>
              </a:rPr>
              <a:t>PROGRAM PELATIHAN BERBASIS KOMPETENSI</a:t>
            </a:r>
            <a:br>
              <a:rPr lang="en-ID">
                <a:solidFill>
                  <a:schemeClr val="tx1"/>
                </a:solidFill>
              </a:rPr>
            </a:br>
            <a:r>
              <a:rPr lang="en-ID" sz="3600" b="1" i="1">
                <a:solidFill>
                  <a:srgbClr val="FFC000"/>
                </a:solidFill>
              </a:rPr>
              <a:t>Pengembangan Web dengan </a:t>
            </a:r>
            <a:br>
              <a:rPr lang="en-ID" sz="3600" b="1" i="1">
                <a:solidFill>
                  <a:srgbClr val="FFC000"/>
                </a:solidFill>
              </a:rPr>
            </a:br>
            <a:r>
              <a:rPr lang="en-ID" sz="3600" b="1" i="1">
                <a:solidFill>
                  <a:srgbClr val="FFC000"/>
                </a:solidFill>
              </a:rPr>
              <a:t>Node.js &amp; React</a:t>
            </a:r>
            <a:br>
              <a:rPr lang="en-ID">
                <a:solidFill>
                  <a:schemeClr val="tx1"/>
                </a:solidFill>
              </a:rPr>
            </a:br>
            <a:br>
              <a:rPr lang="en-ID">
                <a:solidFill>
                  <a:schemeClr val="tx1"/>
                </a:solidFill>
              </a:rPr>
            </a:br>
            <a:endParaRPr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9827" y="6020312"/>
            <a:ext cx="3116834" cy="507098"/>
          </a:xfrm>
        </p:spPr>
        <p:txBody>
          <a:bodyPr/>
          <a:lstStyle/>
          <a:p>
            <a:r>
              <a:t>PT. MPN – </a:t>
            </a:r>
            <a:r>
              <a:rPr err="1"/>
              <a:t>Pelatihan</a:t>
            </a:r>
            <a:r>
              <a:t> OJT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4ECF7931-870F-442C-839B-405643D7262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0725" y="6098775"/>
            <a:ext cx="1405989" cy="4369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012" y="750277"/>
            <a:ext cx="6347713" cy="670560"/>
          </a:xfrm>
        </p:spPr>
        <p:txBody>
          <a:bodyPr/>
          <a:lstStyle/>
          <a:p>
            <a:pPr algn="ctr"/>
            <a:r>
              <a:rPr b="1">
                <a:solidFill>
                  <a:schemeClr val="tx1">
                    <a:lumMod val="95000"/>
                  </a:schemeClr>
                </a:solidFill>
              </a:rPr>
              <a:t>Pengertian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41757-E393-45DD-A78F-02E26FD83B00}"/>
              </a:ext>
            </a:extLst>
          </p:cNvPr>
          <p:cNvSpPr txBox="1"/>
          <p:nvPr/>
        </p:nvSpPr>
        <p:spPr>
          <a:xfrm>
            <a:off x="148611" y="1744098"/>
            <a:ext cx="81172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/>
              <a:t>Program Pelatihan Berbasis Kompetensi (PBK) Pengembangan Web dengan Node.js &amp; React adalah program pelatihan yang dirancang untuk membekali peserta dengan pengetahuan, keterampilan, dan sikap kerja dalam </a:t>
            </a:r>
            <a:r>
              <a:rPr lang="en-ID" sz="2400" i="1">
                <a:solidFill>
                  <a:srgbClr val="FFC000"/>
                </a:solidFill>
              </a:rPr>
              <a:t>mengembangkan aplikasi web menggunakan teknologi Node.js sebagai backend, React sebagai frontend</a:t>
            </a:r>
            <a:r>
              <a:rPr lang="en-ID" sz="2400"/>
              <a:t>, serta </a:t>
            </a:r>
            <a:r>
              <a:rPr lang="en-ID" sz="2400" i="1">
                <a:solidFill>
                  <a:schemeClr val="accent3"/>
                </a:solidFill>
              </a:rPr>
              <a:t>database sebagai media penyimpanan data</a:t>
            </a:r>
            <a:r>
              <a:rPr lang="en-ID" sz="2400"/>
              <a:t>, sehingga peserta </a:t>
            </a:r>
            <a:r>
              <a:rPr lang="en-ID" sz="2400" i="1">
                <a:solidFill>
                  <a:srgbClr val="FFC000"/>
                </a:solidFill>
              </a:rPr>
              <a:t>mampu membangun aplikasi web yang sesuai dengan kebutuhan dunia kerja dan industri</a:t>
            </a:r>
            <a:r>
              <a:rPr lang="en-ID" sz="2400"/>
              <a:t>.</a:t>
            </a:r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0F1AC226-E0F1-437B-BCD2-CF41428C12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0725" y="6098775"/>
            <a:ext cx="1405989" cy="436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012" y="1050024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n-US" sz="4800" b="1">
                <a:solidFill>
                  <a:schemeClr val="tx1">
                    <a:lumMod val="95000"/>
                  </a:schemeClr>
                </a:solidFill>
              </a:rPr>
              <a:t>Tujuannya</a:t>
            </a:r>
            <a:endParaRPr sz="4800" b="1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516" y="1710424"/>
            <a:ext cx="8168641" cy="2453613"/>
          </a:xfrm>
        </p:spPr>
        <p:txBody>
          <a:bodyPr>
            <a:noAutofit/>
          </a:bodyPr>
          <a:lstStyle/>
          <a:p>
            <a:pPr algn="ctr"/>
            <a:endParaRPr sz="2400" b="1"/>
          </a:p>
          <a:p>
            <a:pPr marL="0" indent="0" algn="ctr">
              <a:buNone/>
            </a:pPr>
            <a:r>
              <a:rPr lang="en-ID" sz="2400"/>
              <a:t>Membekali peserta dengan kemampuan </a:t>
            </a:r>
            <a:r>
              <a:rPr lang="en-ID" sz="2400">
                <a:solidFill>
                  <a:srgbClr val="FFC000"/>
                </a:solidFill>
              </a:rPr>
              <a:t>membuat aplikasi web sederhana </a:t>
            </a:r>
            <a:r>
              <a:rPr lang="en-ID" sz="2400"/>
              <a:t>mulai dari </a:t>
            </a:r>
            <a:r>
              <a:rPr lang="en-ID" sz="2400">
                <a:solidFill>
                  <a:srgbClr val="FFC000"/>
                </a:solidFill>
              </a:rPr>
              <a:t>merancang tampilan</a:t>
            </a:r>
            <a:r>
              <a:rPr lang="en-ID" sz="2400"/>
              <a:t>, </a:t>
            </a:r>
            <a:r>
              <a:rPr lang="en-ID" sz="2400">
                <a:solidFill>
                  <a:srgbClr val="FFC000"/>
                </a:solidFill>
              </a:rPr>
              <a:t>mengelola data, membangun logika aplikasi</a:t>
            </a:r>
            <a:r>
              <a:rPr lang="en-ID" sz="2400"/>
              <a:t>, hingga menghasilkan sebuah aplikasi yang dapat digunakan untuk </a:t>
            </a:r>
            <a:r>
              <a:rPr lang="en-ID" sz="2400" i="1">
                <a:solidFill>
                  <a:srgbClr val="FFC000"/>
                </a:solidFill>
              </a:rPr>
              <a:t>membantu menyelesaikan permasalahan di dunia kerja</a:t>
            </a:r>
            <a:r>
              <a:rPr lang="en-ID" sz="2400"/>
              <a:t>.</a:t>
            </a:r>
            <a:endParaRPr sz="2400" b="1"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83D50525-31EB-46D0-A625-AD35E86057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0725" y="6098775"/>
            <a:ext cx="1405989" cy="43696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E5963EA-2B88-483F-8132-E09B9EB3A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015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4BD20E-3935-47FC-BE6F-0B539A6F7E9D}"/>
              </a:ext>
            </a:extLst>
          </p:cNvPr>
          <p:cNvSpPr/>
          <p:nvPr/>
        </p:nvSpPr>
        <p:spPr>
          <a:xfrm>
            <a:off x="1309418" y="1289130"/>
            <a:ext cx="5802924" cy="5332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Pengguna (User)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React (Frontend / Tampilan)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Mengirim Permintaan (API)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Node.js + Express (Backend)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Memproses Logika &amp; Validasi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D" sz="140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MySQL (Database)</a:t>
            </a: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400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Peran Setiap Teknologi</a:t>
            </a:r>
            <a:endParaRPr lang="en-ID" sz="140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400" b="1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ID" sz="1400" b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D" sz="1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Menampilkan halaman web yang digunakan oleh pengguna. 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400" b="1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ID" sz="1400" b="1">
                <a:solidFill>
                  <a:srgbClr val="FFC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400" b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D" sz="1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Mengelola proses bisnis dan logika aplikasi. </a:t>
            </a:r>
            <a:endParaRPr lang="en-ID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400" b="1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D" sz="1400" b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D" sz="1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Menyimpan seluruh data aplikasi. </a:t>
            </a:r>
            <a:endParaRPr lang="en-ID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796DC-E2F8-40AC-AD7E-FA444223924E}"/>
              </a:ext>
            </a:extLst>
          </p:cNvPr>
          <p:cNvSpPr txBox="1"/>
          <p:nvPr/>
        </p:nvSpPr>
        <p:spPr>
          <a:xfrm>
            <a:off x="894408" y="422609"/>
            <a:ext cx="64275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3200" b="1" kern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Arsitektur Sederhana Aplikasi Web</a:t>
            </a:r>
            <a:endParaRPr lang="en-ID" sz="32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D" sz="320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E774C801-1E76-47D0-A5E7-5CC23CFF547A}"/>
              </a:ext>
            </a:extLst>
          </p:cNvPr>
          <p:cNvSpPr/>
          <p:nvPr/>
        </p:nvSpPr>
        <p:spPr>
          <a:xfrm>
            <a:off x="3657600" y="1619096"/>
            <a:ext cx="450573" cy="509043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FF0000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601DB46C-53F4-4AE9-9646-0E51AE808373}"/>
              </a:ext>
            </a:extLst>
          </p:cNvPr>
          <p:cNvSpPr/>
          <p:nvPr/>
        </p:nvSpPr>
        <p:spPr>
          <a:xfrm>
            <a:off x="3664227" y="2354592"/>
            <a:ext cx="450573" cy="509043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FF0000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F557BA50-8118-440D-98E8-5DA02E68CEBF}"/>
              </a:ext>
            </a:extLst>
          </p:cNvPr>
          <p:cNvSpPr/>
          <p:nvPr/>
        </p:nvSpPr>
        <p:spPr>
          <a:xfrm>
            <a:off x="3664227" y="3023827"/>
            <a:ext cx="450573" cy="509043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FF0000"/>
              </a:solidFill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1557F56-A1D4-45E0-AC56-254620594805}"/>
              </a:ext>
            </a:extLst>
          </p:cNvPr>
          <p:cNvSpPr/>
          <p:nvPr/>
        </p:nvSpPr>
        <p:spPr>
          <a:xfrm>
            <a:off x="3657600" y="3693062"/>
            <a:ext cx="450573" cy="509043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FF0000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D981379-7BB7-4D54-B92C-40F2154E4768}"/>
              </a:ext>
            </a:extLst>
          </p:cNvPr>
          <p:cNvSpPr/>
          <p:nvPr/>
        </p:nvSpPr>
        <p:spPr>
          <a:xfrm>
            <a:off x="3664227" y="4375548"/>
            <a:ext cx="450573" cy="509043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643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C3DFEC-CA1E-4F87-A113-C99CAF0EFFC8}"/>
              </a:ext>
            </a:extLst>
          </p:cNvPr>
          <p:cNvSpPr/>
          <p:nvPr/>
        </p:nvSpPr>
        <p:spPr>
          <a:xfrm>
            <a:off x="963634" y="1615765"/>
            <a:ext cx="7730199" cy="4845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Membuat </a:t>
            </a:r>
            <a:r>
              <a:rPr lang="en-ID" sz="24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Interface (UI)</a:t>
            </a:r>
            <a:endParaRPr lang="en-ID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Mendesain </a:t>
            </a:r>
            <a:r>
              <a:rPr lang="en-ID" sz="24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ID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Mengembangkan </a:t>
            </a:r>
            <a:r>
              <a:rPr lang="en-ID" sz="24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Backend API</a:t>
            </a:r>
            <a:endParaRPr lang="en-ID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Menghubungkan Frontend dengan Database</a:t>
            </a:r>
            <a:endParaRPr lang="en-ID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Menerapkan </a:t>
            </a:r>
            <a:r>
              <a:rPr lang="en-ID" sz="24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CRUD</a:t>
            </a: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(Create, Read, Update, Delete)</a:t>
            </a:r>
            <a:endParaRPr lang="en-ID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Menggunakan </a:t>
            </a:r>
            <a:r>
              <a:rPr lang="en-ID" sz="24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untuk kolaborasi tim</a:t>
            </a:r>
            <a:endParaRPr lang="en-ID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D" sz="2400" b="1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Hasil Akhir</a:t>
            </a:r>
            <a:endParaRPr lang="en-ID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Sebuah aplikasi web yang dapat dijalankan dan digunakan sesuai kebutuhan pengguna.</a:t>
            </a:r>
            <a:endParaRPr lang="en-ID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88C3C-9C5B-4D35-A9B2-64C93EFB9131}"/>
              </a:ext>
            </a:extLst>
          </p:cNvPr>
          <p:cNvSpPr/>
          <p:nvPr/>
        </p:nvSpPr>
        <p:spPr>
          <a:xfrm>
            <a:off x="231075" y="414356"/>
            <a:ext cx="8738482" cy="655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600" b="1" kern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Kompetensi yang Akan Diimplementasikan</a:t>
            </a:r>
            <a:endParaRPr lang="en-ID" sz="3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44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057" y="377598"/>
            <a:ext cx="7380850" cy="995232"/>
          </a:xfrm>
        </p:spPr>
        <p:txBody>
          <a:bodyPr>
            <a:normAutofit/>
          </a:bodyPr>
          <a:lstStyle/>
          <a:p>
            <a:r>
              <a:rPr sz="4400" b="1">
                <a:solidFill>
                  <a:schemeClr val="tx1">
                    <a:lumMod val="95000"/>
                  </a:schemeClr>
                </a:solidFill>
              </a:rPr>
              <a:t>Tugas</a:t>
            </a:r>
            <a:r>
              <a:rPr lang="en-US" sz="4400" b="1">
                <a:solidFill>
                  <a:schemeClr val="tx1">
                    <a:lumMod val="95000"/>
                  </a:schemeClr>
                </a:solidFill>
              </a:rPr>
              <a:t>/Project (Kelompok)</a:t>
            </a:r>
            <a:endParaRPr sz="4400" b="1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6E5413FA-43B6-40A7-984A-7889C7147E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0725" y="6098775"/>
            <a:ext cx="1405989" cy="4369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DF6B0BE-BC7D-4A73-BA4D-15E6905E765F}"/>
              </a:ext>
            </a:extLst>
          </p:cNvPr>
          <p:cNvSpPr/>
          <p:nvPr/>
        </p:nvSpPr>
        <p:spPr>
          <a:xfrm>
            <a:off x="751057" y="1521322"/>
            <a:ext cx="7183122" cy="4784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2800" b="1" kern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 Pelatihan Menuju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2800" b="1" kern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Dunia Kerja</a:t>
            </a:r>
            <a:endParaRPr lang="en-ID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Anda adalah </a:t>
            </a:r>
            <a:r>
              <a:rPr lang="en-ID" b="1" i="1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 Developer </a:t>
            </a:r>
            <a:r>
              <a:rPr lang="en-ID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 mendapat proyek dari </a:t>
            </a:r>
            <a:r>
              <a:rPr lang="en-ID" b="1" i="1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Grand Nusantara Hotel </a:t>
            </a:r>
            <a:r>
              <a:rPr lang="en-ID" b="1" i="1">
                <a:solidFill>
                  <a:srgbClr val="FFC000"/>
                </a:solidFill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★★★★★</a:t>
            </a:r>
            <a:r>
              <a:rPr lang="en-ID" b="1" i="1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600" b="1" i="1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b="1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Tugas Anda adalah:</a:t>
            </a:r>
            <a:endParaRPr lang="en-ID" sz="1600" b="1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Memahami kebutuhan pengguna. 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Bekerja sama dalam tim. 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Membangun aplikasi web sederhana yang membantu operasional hotel. 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Menyelesaikan project tepat waktu dan mempresentasikan hasilnya. 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Fokus utama bukan hanya pada banyaknya kode yang dibuat, tetapi pada kemampuan menghasilkan solusi yang bermanfaat bagi pengguna.</a:t>
            </a:r>
            <a:endParaRPr lang="en-ID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057" y="275102"/>
            <a:ext cx="7915423" cy="1320800"/>
          </a:xfrm>
        </p:spPr>
        <p:txBody>
          <a:bodyPr>
            <a:normAutofit/>
          </a:bodyPr>
          <a:lstStyle/>
          <a:p>
            <a:pPr algn="ctr"/>
            <a:r>
              <a:rPr lang="en-ID" b="1">
                <a:solidFill>
                  <a:srgbClr val="FFC000"/>
                </a:solidFill>
              </a:rPr>
              <a:t>Tentang </a:t>
            </a:r>
            <a:br>
              <a:rPr lang="en-ID" b="1"/>
            </a:br>
            <a:r>
              <a:rPr lang="en-ID" b="1" i="1">
                <a:solidFill>
                  <a:srgbClr val="FFC000"/>
                </a:solidFill>
              </a:rPr>
              <a:t>Hotel Grand Nusantara ★★★★★</a:t>
            </a:r>
            <a:endParaRPr lang="en-ID" i="1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2404" y="1750646"/>
            <a:ext cx="5594253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2400"/>
              <a:t>Hotel kami memiliki:</a:t>
            </a:r>
          </a:p>
          <a:p>
            <a:pPr lvl="0"/>
            <a:r>
              <a:rPr lang="en-ID" sz="2400"/>
              <a:t>250 kamar </a:t>
            </a:r>
          </a:p>
          <a:p>
            <a:pPr lvl="0"/>
            <a:r>
              <a:rPr lang="en-ID" sz="2400"/>
              <a:t>3 restoran </a:t>
            </a:r>
          </a:p>
          <a:p>
            <a:pPr lvl="0"/>
            <a:r>
              <a:rPr lang="en-ID" sz="2400"/>
              <a:t>Ballroom </a:t>
            </a:r>
          </a:p>
          <a:p>
            <a:pPr lvl="0"/>
            <a:r>
              <a:rPr lang="en-ID" sz="2400"/>
              <a:t>Meeting Room </a:t>
            </a:r>
          </a:p>
          <a:p>
            <a:pPr lvl="0"/>
            <a:r>
              <a:rPr lang="en-ID" sz="2400"/>
              <a:t>Spa &amp; Fitness Center </a:t>
            </a:r>
          </a:p>
          <a:p>
            <a:pPr lvl="0"/>
            <a:r>
              <a:rPr lang="en-ID" sz="2400"/>
              <a:t>Kolam Renang </a:t>
            </a:r>
          </a:p>
          <a:p>
            <a:pPr lvl="0"/>
            <a:r>
              <a:rPr lang="en-ID" sz="2400"/>
              <a:t>Lebih dari 150 karyawan </a:t>
            </a:r>
          </a:p>
          <a:p>
            <a:pPr lvl="0"/>
            <a:r>
              <a:rPr lang="en-ID" sz="2400"/>
              <a:t>Ratusan tamu setiap hari 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AA3466DE-ED89-4D27-BBAD-804481BC51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0725" y="6098775"/>
            <a:ext cx="1405989" cy="4369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861126" cy="609600"/>
          </a:xfrm>
        </p:spPr>
        <p:txBody>
          <a:bodyPr>
            <a:normAutofit fontScale="90000"/>
          </a:bodyPr>
          <a:lstStyle/>
          <a:p>
            <a:r>
              <a:rPr lang="en-ID" b="1">
                <a:solidFill>
                  <a:schemeClr val="tx1"/>
                </a:solidFill>
              </a:rPr>
              <a:t>Permasalahan yang Di Hadapi</a:t>
            </a:r>
            <a:endParaRPr lang="en-ID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097" y="1121823"/>
            <a:ext cx="8098304" cy="4563359"/>
          </a:xfrm>
        </p:spPr>
        <p:txBody>
          <a:bodyPr>
            <a:noAutofit/>
          </a:bodyPr>
          <a:lstStyle/>
          <a:p>
            <a:endParaRPr sz="2800" b="1"/>
          </a:p>
          <a:p>
            <a:pPr lvl="0"/>
            <a:r>
              <a:rPr lang="en-ID" sz="2800"/>
              <a:t>Reservasi kamar masih dicatat secara manual. </a:t>
            </a:r>
          </a:p>
          <a:p>
            <a:pPr lvl="0"/>
            <a:r>
              <a:rPr lang="en-ID" sz="2800"/>
              <a:t>Status kamar sering terlambat diperbarui. </a:t>
            </a:r>
          </a:p>
          <a:p>
            <a:pPr lvl="0"/>
            <a:r>
              <a:rPr lang="en-ID" sz="2800"/>
              <a:t>Sulit mengetahui kamar yang tersedia secara cepat. </a:t>
            </a:r>
          </a:p>
          <a:p>
            <a:pPr lvl="0"/>
            <a:r>
              <a:rPr lang="en-ID" sz="2800"/>
              <a:t>Data tamu sulit dicari ketika dibutuhkan. </a:t>
            </a:r>
          </a:p>
          <a:p>
            <a:pPr lvl="0"/>
            <a:r>
              <a:rPr lang="en-ID" sz="2800"/>
              <a:t>Laporan harian masih dibuat menggunakan spreadsheet. 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1DB984D3-DCBF-4E72-A741-E7221FEDD6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0725" y="6098775"/>
            <a:ext cx="1405989" cy="4369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F96222-C687-4BEE-98D7-22B1D0364578}"/>
              </a:ext>
            </a:extLst>
          </p:cNvPr>
          <p:cNvSpPr/>
          <p:nvPr/>
        </p:nvSpPr>
        <p:spPr>
          <a:xfrm>
            <a:off x="340570" y="498762"/>
            <a:ext cx="6819496" cy="7811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b="1" kern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 yang Kami Butuhkan?</a:t>
            </a:r>
            <a:endParaRPr lang="en-ID" sz="4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CC33E-08FA-4F25-B7E6-A07393145914}"/>
              </a:ext>
            </a:extLst>
          </p:cNvPr>
          <p:cNvSpPr/>
          <p:nvPr/>
        </p:nvSpPr>
        <p:spPr>
          <a:xfrm>
            <a:off x="340570" y="1279873"/>
            <a:ext cx="7944678" cy="2174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 membutuhkan sebuah </a:t>
            </a:r>
            <a:r>
              <a:rPr lang="en-ID" sz="3200" b="1" i="1">
                <a:solidFill>
                  <a:schemeClr val="accent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Aplikasi Web Internal</a:t>
            </a:r>
            <a:r>
              <a:rPr lang="en-ID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dapat membantu operasional hotel menjadi lebih cepat, akurat, dan mudah digunakan.</a:t>
            </a:r>
            <a:endParaRPr lang="en-ID" sz="3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FC885-6066-48C6-8A49-0E6D4C4715A3}"/>
              </a:ext>
            </a:extLst>
          </p:cNvPr>
          <p:cNvSpPr/>
          <p:nvPr/>
        </p:nvSpPr>
        <p:spPr>
          <a:xfrm>
            <a:off x="340570" y="3659788"/>
            <a:ext cx="6431184" cy="7811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b="1" kern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 itu Web Application?</a:t>
            </a:r>
            <a:endParaRPr lang="en-ID" sz="4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746110-07E7-408C-B8D2-7ABE4EE3866B}"/>
              </a:ext>
            </a:extLst>
          </p:cNvPr>
          <p:cNvSpPr/>
          <p:nvPr/>
        </p:nvSpPr>
        <p:spPr>
          <a:xfrm>
            <a:off x="194795" y="4702771"/>
            <a:ext cx="8419118" cy="2049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800" i="1">
                <a:solidFill>
                  <a:schemeClr val="accent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“Web Application adalah aplikasi yang dapat diakses melalui browser tanpa perlu diinstal”.</a:t>
            </a:r>
          </a:p>
          <a:p>
            <a:pPr lvl="0"/>
            <a:r>
              <a:rPr lang="en-ID" sz="3200"/>
              <a:t>   Seperti : </a:t>
            </a:r>
            <a:r>
              <a:rPr lang="en-ID" sz="3200" b="1" i="1">
                <a:solidFill>
                  <a:schemeClr val="accent3"/>
                </a:solidFill>
              </a:rPr>
              <a:t>Sistem Reservasi Hotel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D" sz="2800" i="1">
              <a:solidFill>
                <a:schemeClr val="accent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77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BCFC9F-61A9-4C81-897E-0BFF6F2B842C}"/>
              </a:ext>
            </a:extLst>
          </p:cNvPr>
          <p:cNvSpPr/>
          <p:nvPr/>
        </p:nvSpPr>
        <p:spPr>
          <a:xfrm>
            <a:off x="413116" y="326484"/>
            <a:ext cx="6644255" cy="655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600" b="1" kern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Teknologi yang Akan Digunakan</a:t>
            </a:r>
            <a:endParaRPr lang="en-ID" sz="3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2441B2-7744-4E78-8E8B-DF836ECCE3BE}"/>
              </a:ext>
            </a:extLst>
          </p:cNvPr>
          <p:cNvSpPr/>
          <p:nvPr/>
        </p:nvSpPr>
        <p:spPr>
          <a:xfrm>
            <a:off x="413116" y="1189908"/>
            <a:ext cx="4061792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Digunakan untuk membuat tampilan aplikasi.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Contohnya: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Halaman Login 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 Input 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Tabel Data </a:t>
            </a:r>
            <a:endParaRPr lang="en-ID" sz="16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0EC434-81E6-4376-B06C-807A4127FD03}"/>
              </a:ext>
            </a:extLst>
          </p:cNvPr>
          <p:cNvSpPr/>
          <p:nvPr/>
        </p:nvSpPr>
        <p:spPr>
          <a:xfrm>
            <a:off x="4771371" y="1189908"/>
            <a:ext cx="4572000" cy="2534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Digunakan untuk menjalankan logika aplikasi.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Contohnya: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Menyimpan Data 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Mengubah Data 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</a:rPr>
              <a:t>Menghapus Data</a:t>
            </a:r>
            <a:endParaRPr lang="en-ID"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16593-02A3-473B-9167-720833C232D0}"/>
              </a:ext>
            </a:extLst>
          </p:cNvPr>
          <p:cNvSpPr/>
          <p:nvPr/>
        </p:nvSpPr>
        <p:spPr>
          <a:xfrm>
            <a:off x="413116" y="4065104"/>
            <a:ext cx="4158884" cy="2534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Digunakan untuk menyimpan seluruh data hotel.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Misalnya: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Kamar 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Tamu 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Pegawai </a:t>
            </a:r>
            <a:endParaRPr lang="en-ID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Reservasi </a:t>
            </a:r>
            <a:endParaRPr lang="en-ID" sz="16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097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44BCBB-C05E-4421-BB91-E5014C458F9F}"/>
              </a:ext>
            </a:extLst>
          </p:cNvPr>
          <p:cNvSpPr/>
          <p:nvPr/>
        </p:nvSpPr>
        <p:spPr>
          <a:xfrm>
            <a:off x="1825164" y="856570"/>
            <a:ext cx="3805529" cy="655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3600" b="1" kern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Ketentuan Project</a:t>
            </a:r>
            <a:endParaRPr lang="en-ID" sz="3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218D84-D9E0-49A6-9AD7-4887C219FB28}"/>
              </a:ext>
            </a:extLst>
          </p:cNvPr>
          <p:cNvSpPr/>
          <p:nvPr/>
        </p:nvSpPr>
        <p:spPr>
          <a:xfrm>
            <a:off x="1825164" y="1833062"/>
            <a:ext cx="5768332" cy="3348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Aplikasi dibuat menggunakan:</a:t>
            </a:r>
            <a:endParaRPr lang="en-ID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endParaRPr lang="en-ID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  <a:endParaRPr lang="en-ID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 </a:t>
            </a:r>
            <a:endParaRPr lang="en-ID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  <a:endParaRPr lang="en-ID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dikerjakan selama:</a:t>
            </a:r>
            <a:r>
              <a:rPr lang="en-ID" sz="280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b="1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Minggu</a:t>
            </a:r>
            <a:endParaRPr lang="en-ID" sz="2800">
              <a:solidFill>
                <a:srgbClr val="FFC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57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2C202E-A5AF-4296-8D12-1AEE89371F97}"/>
              </a:ext>
            </a:extLst>
          </p:cNvPr>
          <p:cNvSpPr/>
          <p:nvPr/>
        </p:nvSpPr>
        <p:spPr>
          <a:xfrm rot="21287685">
            <a:off x="263017" y="506281"/>
            <a:ext cx="3818546" cy="468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b="1" kern="180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KELOMPOK A</a:t>
            </a:r>
            <a:endParaRPr lang="en-ID" sz="2400">
              <a:solidFill>
                <a:srgbClr val="FF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3DC3D8-1215-487D-AAB2-C8D5F53C1FF2}"/>
              </a:ext>
            </a:extLst>
          </p:cNvPr>
          <p:cNvSpPr/>
          <p:nvPr/>
        </p:nvSpPr>
        <p:spPr>
          <a:xfrm>
            <a:off x="452273" y="1146610"/>
            <a:ext cx="3200556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b="1">
                <a:solidFill>
                  <a:schemeClr val="accent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 Reservasi Kamar Hotel</a:t>
            </a:r>
            <a:endParaRPr lang="en-ID" sz="1100">
              <a:solidFill>
                <a:schemeClr val="accent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7BC64F-6734-49CF-AC60-900E22BE4760}"/>
              </a:ext>
            </a:extLst>
          </p:cNvPr>
          <p:cNvSpPr/>
          <p:nvPr/>
        </p:nvSpPr>
        <p:spPr>
          <a:xfrm>
            <a:off x="452273" y="1530331"/>
            <a:ext cx="3642649" cy="4008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Buat aplikasi yang dapat membantu petugas Front Office mengelola reservasi kamar.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0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Minimal memiliki fitur:</a:t>
            </a:r>
            <a:endParaRPr lang="en-ID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Login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Data Kamar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Data Tamu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Reservasi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Check-In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Check-Out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Pencarian Data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D">
                <a:latin typeface="Times New Roman" panose="02020603050405020304" pitchFamily="18" charset="0"/>
                <a:cs typeface="Times New Roman" panose="02020603050405020304" pitchFamily="18" charset="0"/>
              </a:rPr>
              <a:t> Logout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C0253A-5352-4F9F-9C99-DCC03EDB88AF}"/>
              </a:ext>
            </a:extLst>
          </p:cNvPr>
          <p:cNvSpPr/>
          <p:nvPr/>
        </p:nvSpPr>
        <p:spPr>
          <a:xfrm rot="21290127">
            <a:off x="4452796" y="538519"/>
            <a:ext cx="3817905" cy="468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b="1" kern="18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KELOMPOK B</a:t>
            </a:r>
            <a:endParaRPr lang="en-ID" sz="240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853AF20-A6DD-4A55-A29D-6ACA0C23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478" y="1554679"/>
            <a:ext cx="3975652" cy="4303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uatkan aplikasi untuk membantu Supervisor Housekeeping memonitor kondisi kamar.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Minimal memiliki fitur: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Login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Petugas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Kamar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Status Kamar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Riwayat Pembersihan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Pencarian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Logout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182A63-08D9-4918-84D6-6AC90A64FB97}"/>
              </a:ext>
            </a:extLst>
          </p:cNvPr>
          <p:cNvSpPr/>
          <p:nvPr/>
        </p:nvSpPr>
        <p:spPr>
          <a:xfrm>
            <a:off x="4439478" y="1164686"/>
            <a:ext cx="2877711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b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 Housekeeping Hotel</a:t>
            </a:r>
            <a:endParaRPr lang="en-ID" sz="110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761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7A808C-6DFD-4335-9F54-8738F8B0B8D8}"/>
              </a:ext>
            </a:extLst>
          </p:cNvPr>
          <p:cNvSpPr txBox="1"/>
          <p:nvPr/>
        </p:nvSpPr>
        <p:spPr>
          <a:xfrm>
            <a:off x="1472541" y="2069395"/>
            <a:ext cx="5910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YOUTUBE : MITRA PELATIHAN NASIONAL</a:t>
            </a:r>
            <a:endParaRPr lang="en-ID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B490E-845D-4EEF-834B-3FD569F4A7F9}"/>
              </a:ext>
            </a:extLst>
          </p:cNvPr>
          <p:cNvSpPr txBox="1"/>
          <p:nvPr/>
        </p:nvSpPr>
        <p:spPr>
          <a:xfrm>
            <a:off x="402843" y="3052033"/>
            <a:ext cx="7483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FACEBOOK : PT MULTIARTHA PUNDIMAS NAWASENA</a:t>
            </a:r>
            <a:endParaRPr lang="en-ID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C3252-EEFC-4DF1-AE98-3E01687617F5}"/>
              </a:ext>
            </a:extLst>
          </p:cNvPr>
          <p:cNvSpPr txBox="1"/>
          <p:nvPr/>
        </p:nvSpPr>
        <p:spPr>
          <a:xfrm>
            <a:off x="2880537" y="4051163"/>
            <a:ext cx="407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TIKTOK : PT. MPN OFFICIAL</a:t>
            </a:r>
            <a:endParaRPr lang="en-ID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54218-0E87-4C8F-B7DE-1B0BDD427DB3}"/>
              </a:ext>
            </a:extLst>
          </p:cNvPr>
          <p:cNvSpPr txBox="1"/>
          <p:nvPr/>
        </p:nvSpPr>
        <p:spPr>
          <a:xfrm>
            <a:off x="3320683" y="5027548"/>
            <a:ext cx="2813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IG : </a:t>
            </a:r>
            <a:r>
              <a:rPr lang="en-US" sz="2400" b="1" dirty="0" err="1"/>
              <a:t>ptmpn.official</a:t>
            </a:r>
            <a:endParaRPr lang="en-ID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DE812-2D8B-41C5-A2E0-AA45A8998ABA}"/>
              </a:ext>
            </a:extLst>
          </p:cNvPr>
          <p:cNvSpPr txBox="1"/>
          <p:nvPr/>
        </p:nvSpPr>
        <p:spPr>
          <a:xfrm>
            <a:off x="2609680" y="761484"/>
            <a:ext cx="3938899" cy="7694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b="1" dirty="0"/>
              <a:t>AKUN PT. MPN</a:t>
            </a:r>
            <a:endParaRPr lang="en-ID" sz="4400" b="1" dirty="0"/>
          </a:p>
        </p:txBody>
      </p:sp>
    </p:spTree>
    <p:extLst>
      <p:ext uri="{BB962C8B-B14F-4D97-AF65-F5344CB8AC3E}">
        <p14:creationId xmlns:p14="http://schemas.microsoft.com/office/powerpoint/2010/main" val="2696906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EBE785-7F7B-42D6-B974-250AD14F5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966" y="2807110"/>
            <a:ext cx="4110699" cy="1080938"/>
          </a:xfrm>
        </p:spPr>
        <p:txBody>
          <a:bodyPr>
            <a:noAutofit/>
          </a:bodyPr>
          <a:lstStyle/>
          <a:p>
            <a:pPr>
              <a:defRPr sz="3400">
                <a:solidFill>
                  <a:srgbClr val="FFFFFF"/>
                </a:solidFill>
              </a:defRPr>
            </a:pPr>
            <a:r>
              <a:rPr lang="en-US" sz="4800" b="1">
                <a:latin typeface="Bauhaus 93" panose="04030905020B02020C02" pitchFamily="82" charset="0"/>
              </a:rPr>
              <a:t>TERIMA KASIH</a:t>
            </a:r>
            <a:endParaRPr sz="4800" b="1">
              <a:latin typeface="Bauhaus 93" panose="04030905020B02020C02" pitchFamily="82" charset="0"/>
            </a:endParaRPr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2882436C-0330-4335-8747-CD1FB8D59B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0725" y="6098775"/>
            <a:ext cx="1405989" cy="43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435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4133</TotalTime>
  <Words>671</Words>
  <Application>Microsoft Office PowerPoint</Application>
  <PresentationFormat>On-screen Show (4:3)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Aharoni</vt:lpstr>
      <vt:lpstr>Arial</vt:lpstr>
      <vt:lpstr>Bauhaus 93</vt:lpstr>
      <vt:lpstr>Calibri</vt:lpstr>
      <vt:lpstr>Courier New</vt:lpstr>
      <vt:lpstr>Segoe UI Emoji</vt:lpstr>
      <vt:lpstr>Segoe UI Symbol</vt:lpstr>
      <vt:lpstr>Symbol</vt:lpstr>
      <vt:lpstr>Times New Roman</vt:lpstr>
      <vt:lpstr>Trebuchet MS</vt:lpstr>
      <vt:lpstr>Wingdings 3</vt:lpstr>
      <vt:lpstr>Facet</vt:lpstr>
      <vt:lpstr>PowerPoint Presentation</vt:lpstr>
      <vt:lpstr>PROGRAM PELATIHAN BERBASIS KOMPETENSI Pengembangan Web dengan  Node.js &amp; React  </vt:lpstr>
      <vt:lpstr>Pengertian</vt:lpstr>
      <vt:lpstr>Tujuannya</vt:lpstr>
      <vt:lpstr>PowerPoint Presentation</vt:lpstr>
      <vt:lpstr>PowerPoint Presentation</vt:lpstr>
      <vt:lpstr>Tugas/Project (Kelompok)</vt:lpstr>
      <vt:lpstr>Tentang  Hotel Grand Nusantara ★★★★★</vt:lpstr>
      <vt:lpstr>Permasalahan yang Di Hadapi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Doddy</dc:creator>
  <cp:keywords/>
  <dc:description>generated using python-pptx</dc:description>
  <cp:lastModifiedBy>Doddy Dewayadi</cp:lastModifiedBy>
  <cp:revision>22</cp:revision>
  <dcterms:created xsi:type="dcterms:W3CDTF">2013-01-27T09:14:16Z</dcterms:created>
  <dcterms:modified xsi:type="dcterms:W3CDTF">2026-07-21T01:44:10Z</dcterms:modified>
  <cp:category/>
</cp:coreProperties>
</file>